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 Swarm Iteration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much does iterating with a swarm of agents actually uplift artifact quality?</a:t>
            </a:r>
            <a:br/>
            <a:br/>
            <a:r>
              <a:rPr/>
              <a:t>Early demo night · Claude Opus 4.7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2026-04-19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5 domains</a:t>
            </a:r>
            <a:r>
              <a:rPr/>
              <a:t> drawn from BLS × Anthropic Economic Index weighting</a:t>
            </a:r>
          </a:p>
          <a:p>
            <a:pPr lvl="0"/>
            <a:r>
              <a:rPr b="1"/>
              <a:t>3 agents per domain</a:t>
            </a:r>
            <a:r>
              <a:rPr/>
              <a:t>, working independently — the “swarm”</a:t>
            </a:r>
          </a:p>
          <a:p>
            <a:pPr lvl="0"/>
            <a:r>
              <a:rPr/>
              <a:t>Each agent produces </a:t>
            </a:r>
            <a:r>
              <a:rPr b="1"/>
              <a:t>v1 → v2 → v3</a:t>
            </a:r>
            <a:r>
              <a:rPr/>
              <a:t> — the “iteration”</a:t>
            </a:r>
          </a:p>
          <a:p>
            <a:pPr lvl="0"/>
            <a:r>
              <a:rPr/>
              <a:t>Target: 45 artifacts total (5 × 3 × 3)</a:t>
            </a:r>
          </a:p>
          <a:p>
            <a:pPr lvl="0" indent="0" marL="0">
              <a:buNone/>
            </a:pPr>
            <a:r>
              <a:rPr/>
              <a:t>Agent prompt: read </a:t>
            </a:r>
            <a:r>
              <a:rPr>
                <a:latin typeface="Courier"/>
              </a:rPr>
              <a:t>ARTIFACT_DESCRIPTION.md</a:t>
            </a:r>
            <a:r>
              <a:rPr/>
              <a:t>, draft v1, apply iteration targets for v2, polish for v3. No cross-talk.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five domains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Artifact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Cognitive style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Dev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Webhook dispatcher service (code)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systems engineering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Editor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Developmental edit memo (novel)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structural craft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Lawyer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Non-compete enforceability memo (MA)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statutory reasoning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Chemist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HPLC method validation report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regulated science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Nurse (RN)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CHF discharge summary + teach-back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clinical comms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Picked one representative occupation per SOC major group — weighted by BLS wage bill × AEI API adoption × artifact-fit.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“uplift” means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hand-wavey composite:</a:t>
            </a:r>
          </a:p>
          <a:p>
            <a:pPr lvl="0"/>
            <a:r>
              <a:rPr b="1"/>
              <a:t>Volume</a:t>
            </a:r>
            <a:r>
              <a:rPr/>
              <a:t> — did v2 add substantive material? (lines are a crude proxy)</a:t>
            </a:r>
          </a:p>
          <a:p>
            <a:pPr lvl="0"/>
            <a:r>
              <a:rPr b="1"/>
              <a:t>Breadth</a:t>
            </a:r>
            <a:r>
              <a:rPr/>
              <a:t> — did v2 surface doctrines, tests, options v1 skipped?</a:t>
            </a:r>
          </a:p>
          <a:p>
            <a:pPr lvl="0"/>
            <a:r>
              <a:rPr b="1"/>
              <a:t>Completeness</a:t>
            </a:r>
            <a:r>
              <a:rPr/>
              <a:t> — did v1 ship a partial draft that v2 finished?</a:t>
            </a:r>
          </a:p>
          <a:p>
            <a:pPr lvl="0"/>
            <a:r>
              <a:rPr b="1"/>
              <a:t>Swarm variance</a:t>
            </a:r>
            <a:r>
              <a:rPr/>
              <a:t> — did 3 agents converge, or split into meaningfully different outputs?</a:t>
            </a:r>
          </a:p>
          <a:p>
            <a:pPr lvl="0" indent="0" marL="0">
              <a:buNone/>
            </a:pPr>
            <a:r>
              <a:rPr i="1"/>
              <a:t>Caveat: line-count is a rough proxy; qualitative reads are what matter. Demo-night rigor only.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Uplift by domain (v1 → v2 → v3)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Mean lines across 3 agents. Hand-wavey proxy for “amount of work added.”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0"/>
                <a:gridCol w="850900"/>
                <a:gridCol w="850900"/>
                <a:gridCol w="850900"/>
                <a:gridCol w="850900"/>
                <a:gridCol w="850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v1→v3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Shape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Software Dev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4.2×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runs away — each round adds production concerns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Editor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2.7×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growth in v1→v2, </a:t>
                      </a:r>
                      <a:r>
                        <a:rPr b="1"/>
                        <a:t>plateaus</a:t>
                      </a:r>
                      <a:r>
                        <a:rPr/>
                        <a:t> after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Nurse (RN)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2.4×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steady growth across all rounds (</a:t>
                      </a:r>
                      <a:r>
                        <a:rPr b="1"/>
                        <a:t>surprise</a:t>
                      </a:r>
                      <a:r>
                        <a:rPr/>
                        <a:t>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Lawyer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2.0×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each round adds a doctrine or jurisdiction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Chemist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482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1.6×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regulated template constrains the ceiling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Biggest uplift: Editor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v1 (51 lines):</a:t>
            </a:r>
            <a:r>
              <a:rPr/>
              <a:t> Three-thread critique of a debut novel. Solid instincts. Ends with:</a:t>
            </a:r>
          </a:p>
          <a:p>
            <a:pPr lvl="0" indent="0" marL="1270000">
              <a:buNone/>
            </a:pPr>
            <a:r>
              <a:rPr sz="2000"/>
              <a:t>“[This is a first pass — I’ll send you the full letter, including the other two thread sections, the complete questions list, and the scope/timeline, by end of day Saturday.]”</a:t>
            </a:r>
          </a:p>
          <a:p>
            <a:pPr lvl="0" indent="0" marL="0">
              <a:buNone/>
            </a:pPr>
            <a:r>
              <a:rPr b="1"/>
              <a:t>v1 knew it was incomplete.</a:t>
            </a:r>
          </a:p>
          <a:p>
            <a:pPr lvl="0" indent="0" marL="0">
              <a:buNone/>
            </a:pPr>
            <a:r>
              <a:rPr b="1"/>
              <a:t>v2 (147 lines):</a:t>
            </a:r>
          </a:p>
          <a:p>
            <a:pPr lvl="0"/>
            <a:r>
              <a:rPr/>
              <a:t>3 </a:t>
            </a:r>
            <a:r>
              <a:rPr i="1"/>
              <a:t>genuinely different</a:t>
            </a:r>
            <a:r>
              <a:rPr/>
              <a:t> options per structural issue (“A is withholding, B is relational, C is pacing — pick one”)</a:t>
            </a:r>
          </a:p>
          <a:p>
            <a:pPr lvl="0"/>
            <a:r>
              <a:rPr/>
              <a:t>10 pre-revision questions for the author</a:t>
            </a:r>
          </a:p>
          <a:p>
            <a:pPr lvl="0"/>
            <a:r>
              <a:rPr/>
              <a:t>Full 8-week timeline mapped to teaching schedule</a:t>
            </a:r>
          </a:p>
          <a:p>
            <a:pPr lvl="0"/>
            <a:r>
              <a:rPr/>
              <a:t>Explicit “what NOT to do” scope list</a:t>
            </a:r>
          </a:p>
          <a:p>
            <a:pPr lvl="0" indent="0" marL="0">
              <a:buNone/>
            </a:pPr>
            <a:r>
              <a:rPr/>
              <a:t>Iteration worked here because the task was </a:t>
            </a:r>
            <a:r>
              <a:rPr b="1"/>
              <a:t>open-ended and craft-judgmental</a:t>
            </a:r>
            <a:r>
              <a:rPr/>
              <a:t>. v2 didn’t just add words — it added </a:t>
            </a:r>
            <a:r>
              <a:rPr b="1"/>
              <a:t>alternatives</a:t>
            </a:r>
            <a:r>
              <a:rPr/>
              <a:t>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Software Dev: scaffold →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Rate-limited webhook dispatcher — Python + Redis + tests</a:t>
            </a:r>
          </a:p>
          <a:p>
            <a:pPr lvl="0" indent="0" marL="0">
              <a:buNone/>
            </a:pPr>
            <a:r>
              <a:rPr b="1"/>
              <a:t>v1 added:</a:t>
            </a:r>
          </a:p>
          <a:p>
            <a:pPr lvl="0"/>
            <a:r>
              <a:rPr/>
              <a:t>Core dispatch loop</a:t>
            </a:r>
          </a:p>
          <a:p>
            <a:pPr lvl="0"/>
            <a:r>
              <a:rPr>
                <a:latin typeface="Courier"/>
              </a:rPr>
              <a:t>asyncio.Semaphore</a:t>
            </a:r>
            <a:r>
              <a:rPr/>
              <a:t> rate limit</a:t>
            </a:r>
          </a:p>
          <a:p>
            <a:pPr lvl="0"/>
            <a:r>
              <a:rPr/>
              <a:t>Basic retry</a:t>
            </a:r>
          </a:p>
          <a:p>
            <a:pPr lvl="0"/>
            <a:r>
              <a:rPr/>
              <a:t>Minimal tests</a:t>
            </a:r>
          </a:p>
          <a:p>
            <a:pPr lvl="0" indent="0" marL="0">
              <a:buNone/>
            </a:pPr>
            <a:r>
              <a:rPr b="1"/>
              <a:t>v2 → v3 added:</a:t>
            </a:r>
          </a:p>
          <a:p>
            <a:pPr lvl="0"/>
            <a:r>
              <a:rPr/>
              <a:t>Redis token bucket (survives restarts)</a:t>
            </a:r>
          </a:p>
          <a:p>
            <a:pPr lvl="0"/>
            <a:r>
              <a:rPr/>
              <a:t>HMAC signing + </a:t>
            </a:r>
            <a:r>
              <a:rPr>
                <a:latin typeface="Courier"/>
              </a:rPr>
              <a:t>compare_digest</a:t>
            </a:r>
          </a:p>
          <a:p>
            <a:pPr lvl="0"/>
            <a:r>
              <a:rPr/>
              <a:t>Per-merchant circuit breaker (CLOSED/OPEN/HALF-OPEN)</a:t>
            </a:r>
          </a:p>
          <a:p>
            <a:pPr lvl="0"/>
            <a:r>
              <a:rPr/>
              <a:t>Idempotency dedup, DLQ, Prometheus metrics</a:t>
            </a:r>
          </a:p>
          <a:p>
            <a:pPr lvl="0"/>
            <a:r>
              <a:rPr/>
              <a:t>Graceful SIGTERM drain</a:t>
            </a:r>
          </a:p>
          <a:p>
            <a:pPr lvl="0"/>
            <a:r>
              <a:rPr/>
              <a:t>Separate test files, </a:t>
            </a:r>
            <a:r>
              <a:rPr>
                <a:latin typeface="Courier"/>
              </a:rPr>
              <a:t>docker-compose</a:t>
            </a:r>
            <a:r>
              <a:rPr/>
              <a:t>, </a:t>
            </a:r>
            <a:r>
              <a:rPr>
                <a:latin typeface="Courier"/>
              </a:rPr>
              <a:t>sql/schema.sql</a:t>
            </a:r>
          </a:p>
          <a:p>
            <a:pPr lvl="0" indent="0" marL="0">
              <a:buNone/>
            </a:pPr>
            <a:r>
              <a:rPr/>
              <a:t>Iteration converted a </a:t>
            </a:r>
            <a:r>
              <a:rPr b="1"/>
              <a:t>working toy</a:t>
            </a:r>
            <a:r>
              <a:rPr/>
              <a:t> into something you could actually run. Tests doubled. Security tightened. Ops story filled in.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Lawyer: solid → thorough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MA non-compete memo. v1 was already competent; v2 closed rigor gaps.</a:t>
            </a:r>
          </a:p>
          <a:p>
            <a:pPr lvl="0" indent="0" marL="0">
              <a:buNone/>
            </a:pPr>
            <a:r>
              <a:rPr b="1"/>
              <a:t>v1 covered:</a:t>
            </a:r>
          </a:p>
          <a:p>
            <a:pPr lvl="0"/>
            <a:r>
              <a:rPr/>
              <a:t>All six § 24L statutory elements</a:t>
            </a:r>
          </a:p>
          <a:p>
            <a:pPr lvl="0"/>
            <a:r>
              <a:rPr i="1"/>
              <a:t>Packaging Industries</a:t>
            </a:r>
            <a:r>
              <a:rPr/>
              <a:t> 4-factor PI test</a:t>
            </a:r>
          </a:p>
          <a:p>
            <a:pPr lvl="0"/>
            <a:r>
              <a:rPr/>
              <a:t>Three-option recommendation</a:t>
            </a:r>
          </a:p>
          <a:p>
            <a:pPr lvl="0" indent="0" marL="0">
              <a:buNone/>
            </a:pPr>
            <a:r>
              <a:rPr b="1"/>
              <a:t>v2 added:</a:t>
            </a:r>
          </a:p>
          <a:p>
            <a:pPr lvl="0"/>
            <a:r>
              <a:rPr/>
              <a:t>Common-law reasonableness (</a:t>
            </a:r>
            <a:r>
              <a:rPr i="1"/>
              <a:t>Boulanger</a:t>
            </a:r>
            <a:r>
              <a:rPr/>
              <a:t>, </a:t>
            </a:r>
            <a:r>
              <a:rPr i="1"/>
              <a:t>Marine Contractors</a:t>
            </a:r>
            <a:r>
              <a:rPr/>
              <a:t>) as </a:t>
            </a:r>
            <a:r>
              <a:rPr b="1"/>
              <a:t>separate</a:t>
            </a:r>
            <a:r>
              <a:rPr/>
              <a:t> from § 24L</a:t>
            </a:r>
          </a:p>
          <a:p>
            <a:pPr lvl="0"/>
            <a:r>
              <a:rPr/>
              <a:t>Parallel DTSA/MUTSA trade-secret theory fully developed</a:t>
            </a:r>
          </a:p>
          <a:p>
            <a:pPr lvl="0"/>
            <a:r>
              <a:rPr/>
              <a:t>Rhode Island choice-of-law risk (employee lived in RI 2 days/week)</a:t>
            </a:r>
          </a:p>
          <a:p>
            <a:pPr lvl="0"/>
            <a:r>
              <a:rPr/>
              <a:t>7-item “open issues” investigation list</a:t>
            </a:r>
          </a:p>
          <a:p>
            <a:pPr lvl="0"/>
            <a:r>
              <a:rPr/>
              <a:t>Quantified cost/probability per option</a:t>
            </a:r>
          </a:p>
          <a:p>
            <a:pPr lvl="0" indent="0" marL="0">
              <a:buNone/>
            </a:pPr>
            <a:r>
              <a:rPr/>
              <a:t>Uplift here is about </a:t>
            </a:r>
            <a:r>
              <a:rPr b="1"/>
              <a:t>noticing what v1 didn’t notice</a:t>
            </a:r>
            <a:r>
              <a:rPr/>
              <a:t> — the second doctrine, the alternate theory, the jurisdictional edge case.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RN surprise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 predicted discharge summaries would plateau fast. </a:t>
            </a:r>
            <a:r>
              <a:rPr b="1"/>
              <a:t>Wrong.</a:t>
            </a:r>
            <a:r>
              <a:rPr/>
              <a:t> They grew 2.4× v1→v3 — steady across every round.</a:t>
            </a:r>
          </a:p>
          <a:p>
            <a:pPr lvl="0"/>
            <a:r>
              <a:rPr b="1"/>
              <a:t>v1</a:t>
            </a:r>
            <a:r>
              <a:rPr/>
              <a:t>: 4 of 8 teach-back topics, core meds, basic red flags</a:t>
            </a:r>
          </a:p>
          <a:p>
            <a:pPr lvl="0"/>
            <a:r>
              <a:rPr b="1"/>
              <a:t>v2 adds</a:t>
            </a:r>
            <a:r>
              <a:rPr/>
              <a:t>: remaining 4 topics, caregiver role-splits (“when daughter is at work”), pill color descriptors, concrete analogies (“2 lb = water bottle”)</a:t>
            </a:r>
          </a:p>
          <a:p>
            <a:pPr lvl="0"/>
            <a:r>
              <a:rPr b="1"/>
              <a:t>v3 adds</a:t>
            </a:r>
            <a:r>
              <a:rPr/>
              <a:t>: pictograph references, meal-time anchors replacing clock times, two-scenario teach-back prompts for triage reasoning, literacy-fitted emergency tables</a:t>
            </a:r>
          </a:p>
          <a:p>
            <a:pPr lvl="0" indent="0" marL="0">
              <a:buNone/>
            </a:pPr>
            <a:r>
              <a:rPr/>
              <a:t>Lesson: “tight template” ≠ “no room to iterate.” Patient-education materials have </a:t>
            </a:r>
            <a:r>
              <a:rPr b="1"/>
              <a:t>many small literacy levers</a:t>
            </a:r>
            <a:r>
              <a:rPr/>
              <a:t> that compound across rounds.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Swarm 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Do 3 agents on the same artifact converge or diverge?</a:t>
            </a:r>
          </a:p>
          <a:p>
            <a:pPr lvl="0"/>
            <a:r>
              <a:rPr b="1"/>
              <a:t>Editor v2:</a:t>
            </a:r>
            <a:r>
              <a:rPr/>
              <a:t> all 3 agents wrote complete letters, but emphasized different structural diagnoses. Three different “recast Aunty Fola” framings. </a:t>
            </a:r>
            <a:r>
              <a:rPr i="1"/>
              <a:t>Divergent, in a good way.</a:t>
            </a:r>
          </a:p>
          <a:p>
            <a:pPr lvl="0"/>
            <a:r>
              <a:rPr b="1"/>
              <a:t>Software Dev v3:</a:t>
            </a:r>
            <a:r>
              <a:rPr/>
              <a:t> two agents ended with similar architecture but different trade-offs (fixed-window vs. token-bucket rate limiter; TTL-based vs. timer-based breaker). </a:t>
            </a:r>
            <a:r>
              <a:rPr i="1"/>
              <a:t>Real engineering choices visible.</a:t>
            </a:r>
          </a:p>
          <a:p>
            <a:pPr lvl="0"/>
            <a:r>
              <a:rPr b="1"/>
              <a:t>Lawyer v2:</a:t>
            </a:r>
            <a:r>
              <a:rPr/>
              <a:t> reaches same overall conclusion but varies in which jurisdictional risk gets top billing.</a:t>
            </a:r>
          </a:p>
          <a:p>
            <a:pPr lvl="0" indent="0" marL="0">
              <a:buNone/>
            </a:pPr>
            <a:r>
              <a:rPr/>
              <a:t>The swarm is </a:t>
            </a:r>
            <a:r>
              <a:rPr b="1"/>
              <a:t>not</a:t>
            </a:r>
            <a:r>
              <a:rPr/>
              <a:t> a vote — it’s a portfolio of judgment calls the reader can compare.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Highest vs. lowest uplift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Most uplift: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v1→v3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Software Dev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4.2×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Every round surfaces another production concern: tests, circuit breakers, metrics, Dockerfile, schema.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Editor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2.7×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v1 was partial; v2 finished the letter with </a:t>
                      </a:r>
                      <a:r>
                        <a:rPr i="1"/>
                        <a:t>alternatives</a:t>
                      </a:r>
                      <a:r>
                        <a:rPr/>
                        <a:t>. But v3 ≈ v2 — craft letters cap out.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Least uplift: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v1→v3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Chemist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1.6×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Regulated ICH Q2(R2) template. v1 already hits the shape; v2-3 add precision, not scope.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Lawyer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2.0×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v1 hits IRAC. Iterations add breadth (common-law layer, DTSA theory, RI jurisdiction) but not transformation.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Code has runaway uplift.</a:t>
            </a:r>
            <a:r>
              <a:rPr/>
              <a:t> 4.2× growth over 3 rounds. Each iteration surfaces more production concerns (tests, metrics, ops) — the “iteration tax” is paid in hardening, not rethinking.</a:t>
            </a:r>
          </a:p>
          <a:p>
            <a:pPr lvl="0" indent="-342900" marL="342900">
              <a:buAutoNum type="arabicPeriod"/>
            </a:pPr>
            <a:r>
              <a:rPr b="1"/>
              <a:t>Craft letters plateau after round 2.</a:t>
            </a:r>
            <a:r>
              <a:rPr/>
              <a:t> Editor’s v1 was partial; v2 finished it with alternatives. v3 ≈ v2. Once the structural argument is complete, further rounds polish prose but don’t transform.</a:t>
            </a:r>
          </a:p>
          <a:p>
            <a:pPr lvl="0" indent="-342900" marL="342900">
              <a:buAutoNum type="arabicPeriod"/>
            </a:pPr>
            <a:r>
              <a:rPr b="1"/>
              <a:t>“Tight template” ≠ “no uplift.”</a:t>
            </a:r>
            <a:r>
              <a:rPr/>
              <a:t> Discharge summaries grew 2.4× because patient-education has </a:t>
            </a:r>
            <a:r>
              <a:rPr i="1"/>
              <a:t>many small levers</a:t>
            </a:r>
            <a:r>
              <a:rPr/>
              <a:t> (literacy, pictographs, caregiver roles, emergency tables) that compound. My prior was wrong.</a:t>
            </a:r>
          </a:p>
          <a:p>
            <a:pPr lvl="0" indent="-342900" marL="342900">
              <a:buAutoNum type="arabicPeriod"/>
            </a:pPr>
            <a:r>
              <a:rPr b="1"/>
              <a:t>Regulated scientific reports plateau earliest.</a:t>
            </a:r>
            <a:r>
              <a:rPr/>
              <a:t> Chemist ≈ 1.6×. ICH Q2(R2) shape is rigid; iteration refines validation rigor within a fixed skeleton.</a:t>
            </a:r>
          </a:p>
          <a:p>
            <a:pPr lvl="0" indent="-342900" marL="342900">
              <a:buAutoNum type="arabicPeriod"/>
            </a:pPr>
            <a:r>
              <a:rPr b="1"/>
              <a:t>Swarms produce portfolios, not consensus.</a:t>
            </a:r>
            <a:r>
              <a:rPr/>
              <a:t> 3 agents pick genuinely different trade-offs. Useful for comparison; bad for majority-vote.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Caveats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Line count ≠ quality.</a:t>
            </a:r>
            <a:r>
              <a:rPr/>
              <a:t> 2.7× is suggestive, not dispositive. Humans need to rate v2 blind vs v1 to confirm.</a:t>
            </a:r>
          </a:p>
          <a:p>
            <a:pPr lvl="0"/>
            <a:r>
              <a:rPr b="1"/>
              <a:t>5 domains is small.</a:t>
            </a:r>
            <a:r>
              <a:rPr/>
              <a:t> Need to run the other 7 (Management, Office/Admin, Business/Finance, Engineering, Science, Sales, Community/Social) to see if the pattern holds.</a:t>
            </a:r>
          </a:p>
          <a:p>
            <a:pPr lvl="0"/>
            <a:r>
              <a:rPr b="1"/>
              <a:t>v3 data is thin.</a:t>
            </a:r>
            <a:r>
              <a:rPr/>
              <a:t> Most v3s are still in flight — open question is whether v3 adds marginal value or diminishing returns.</a:t>
            </a:r>
          </a:p>
          <a:p>
            <a:pPr lvl="0"/>
            <a:r>
              <a:rPr b="1"/>
              <a:t>Codex is running the same thing in parallel.</a:t>
            </a:r>
            <a:r>
              <a:rPr/>
              <a:t> Head-to-head comparison next.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Artifacts at </a:t>
            </a:r>
            <a:r>
              <a:rPr>
                <a:latin typeface="Courier"/>
              </a:rPr>
              <a:t>/tasks/&lt;soc&gt;-&lt;slug&gt;/iterations/agent-N/v{1,2,3}.md</a:t>
            </a:r>
          </a:p>
          <a:p>
            <a:pPr lvl="0" indent="0" marL="0">
              <a:buNone/>
            </a:pPr>
            <a:r>
              <a:rPr/>
              <a:t>Weighting method in </a:t>
            </a:r>
            <a:r>
              <a:rPr>
                <a:latin typeface="Courier"/>
              </a:rPr>
              <a:t>CLAUDE_DOMAINS_DETAILED.md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Swarm Iteration</dc:title>
  <dc:creator>Early demo night · Claude Opus 4.7</dc:creator>
  <cp:keywords/>
  <dcterms:created xsi:type="dcterms:W3CDTF">2026-04-19T17:57:29Z</dcterms:created>
  <dcterms:modified xsi:type="dcterms:W3CDTF">2026-04-19T17:57:29Z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2026-04-19</vt:lpwstr>
  </property>
  <property fmtid="{D5CDD505-2E9C-101B-9397-08002B2CF9AE}" pid="3" name="subtitle">
    <vt:lpwstr>How much does iterating with a swarm of agents actually uplift artifact quality?</vt:lpwstr>
  </property>
</Properties>
</file>